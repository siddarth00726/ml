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de0db04-d7de-68d3-a489-21ffe0e2da2d}">
          <p14:sldIdLst>
            <p14:sldId id="256"/>
          </p14:sldIdLst>
        </p14:section>
        <p14:section name="Background" id="{f608b0d4-88d0-1f3f-30f6-2b57baa541bf}">
          <p14:sldIdLst>
            <p14:sldId id="257"/>
            <p14:sldId id="258"/>
            <p14:sldId id="259"/>
            <p14:sldId id="260"/>
          </p14:sldIdLst>
        </p14:section>
        <p14:section name="Design" id="{17daa739-4d8d-000f-82f7-0d498acad4bb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mplementation" id="{d763b216-5868-8abe-9a45-cb73c9d5b687}">
          <p14:sldIdLst>
            <p14:sldId id="267"/>
            <p14:sldId id="268"/>
            <p14:sldId id="269"/>
          </p14:sldIdLst>
        </p14:section>
        <p14:section name="Outcomes" id="{38877b3b-e390-c7e3-6e3f-ed7a79079578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ing" id="{0a323382-e17d-577f-4099-d7ea8541e301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bracketed student, college and academic-year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Rare diseases look like common ones, which delays diagnosis. DBSCAN can surface unusual patients without needing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views of the problem: what is wrong today, why it is hard to fix, and who pays the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chose it: real need, a technique that fits unlabeled data, and active interest in healthcare anomaly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main objective supported by four specific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approach relies on manual review and supervised models, both of which struggle with rare, unlabeled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limitation of the existing system maps to one property of the DBSCAN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right: input, preprocessing, DBSCAN, then flagged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Eight-step pipeline. Step six, the DBSCAN run, is the core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a standard laptop. No database is needed because the dataset is a CSV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 from data collection to review. Authentication is out of scope for this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code sketch. The parameter values shown are illustrative and should be replaced with the tuned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Kaggle: Disease Symptoms and Patient Profile Dataset, 349 rows and 10 columns. Add the number of duplicates removed after preprocessing.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Standardized features go into DBSCAN. Points with label -1 are noise and are the potential rare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dashes with values from your final run. DBSCAN is unsupervised, so metrics need a reference: for example, treat the least frequent diseases in the Disease column as the reference rare cases and compare them with DBSCAN's noise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four screenshots from the notebook run into the dashed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of the proposed system and how it improves on manual review and supervised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uses on the left, the people and industries who benefit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DBSCAN flags unusual records, and a clinician must confirm whether any is a rare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directions: improve the model, add features, then deploy and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was built, what it shows,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NK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B5"/>
                </a:solidFill>
              </a:rPr>
              <a:t>RARE-DISEASE CASE IDENTIFICATION USING DBSCAN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B5"/>
                </a:solidFill>
              </a:rPr>
              <a:t>RARE-DISEASE CASE IDENTIFICATION USING DBSCAN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LIVE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B5"/>
                </a:solidFill>
              </a:rPr>
              <a:t>RARE-DISEASE CASE IDENTIFICATION USING DBSCAN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F2C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02920"/>
            <a:ext cx="5394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C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"/>
            <a:ext cx="5120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rgbClr val="1F2C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029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RARE-DISEASE CASE IDENTIFICATION USING DBSCAN-BASED ANOMALY DETECTION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Students: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[Student Name 1 – Roll No.], [Student Name 2 – Roll No.]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Guide: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Dr. Dyuti Banerjee, Assistant Professor, AI &amp; DS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Department: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Artificial Intelligence &amp; Data Science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College: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[College / University Name]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Academic Year: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[20XX – 20XX]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7724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4416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Rare diseases occur infrequently and mimic common ones, so diagnosis is often delayed, treatment less effective and healthcare costs higher.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37744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8716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Domain overview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88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Machine learning finds hidden patterns in large healthcare datasets. DBSCAN, a density-based clustering algorithm, detects anomalies without labeled data.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52044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777240" y="3822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3016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is needed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31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Outlier patient records may represent rare diseases. Early alerts support accurate diagnosis and timely treatment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Existing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Rare diseases look like common ones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Diagnosis is delayed or missed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Very few cases to learn from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35204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labeled rare-disease data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Unusual symptom combinations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review of large records is slow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62636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is affected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Patients and families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Doctors and clinicians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Hospitals and health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MOTIVATION</a:t>
            </a:r>
            <a:endParaRPr lang="en-US" sz="2800" dirty="0"/>
          </a:p>
        </p:txBody>
      </p:sp>
      <p:sp>
        <p:nvSpPr>
          <p:cNvPr id="3" name="Statement card"/>
          <p:cNvSpPr/>
          <p:nvPr/>
        </p:nvSpPr>
        <p:spPr>
          <a:xfrm>
            <a:off x="54864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Support doctors, don't replace them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decision-support tool that raises early alerts for medical review.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611880" y="1280160"/>
            <a:ext cx="49834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840480" y="1389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this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real healthcare impact with an unsupervised technique that needs no disease labels.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611880" y="2377440"/>
            <a:ext cx="49834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4048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Real-world need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788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Delayed diagnosis raises costs and risks ineffective treatment, so clinicians need early alerts.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3611880" y="3474720"/>
            <a:ext cx="49834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40480" y="3584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 and industry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Anomaly detection is an active area in healthcare analytics and clinical decision support.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Main objective"/>
          <p:cNvSpPr/>
          <p:nvPr/>
        </p:nvSpPr>
        <p:spPr>
          <a:xfrm>
            <a:off x="548640" y="123444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MAIN OBJECTIVE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Build a DBSCAN-based anomaly detection system that flags potential rare-disease patient cases for medical review.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6" name="Badge 1"/>
          <p:cNvSpPr txBox="1"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6060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Preprocess patient data: clean, encode and standardize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246888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9" name="Badge 2"/>
          <p:cNvSpPr txBox="1"/>
          <p:nvPr/>
        </p:nvSpPr>
        <p:spPr>
          <a:xfrm>
            <a:off x="4846320" y="27432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6060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 similar patients into dense clusters with DBSCAN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56616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03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 noise points as potential rare-disease cases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663440" y="356616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5" name="Badge 4"/>
          <p:cNvSpPr txBox="1"/>
          <p:nvPr/>
        </p:nvSpPr>
        <p:spPr>
          <a:xfrm>
            <a:off x="4846320" y="3840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703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Visualize clusters and anomalies to support clinicians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EXISTING SYSTEM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47548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Current approach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clinical review and symptom matching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Specialist referral after repeated visits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971800"/>
            <a:ext cx="47548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108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Existing technologies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Supervised classifiers that need labeled data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screening and statistical outlier tests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532120" y="1234440"/>
            <a:ext cx="3063240" cy="3291840"/>
          </a:xfrm>
          <a:prstGeom prst="roundRect">
            <a:avLst>
              <a:gd name="adj" fmla="val 35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76072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288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Rare-disease labels are scarce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Unusual symptom mixes go unnoticed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and dependent on specialist availability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PROPOSED SYSTEM</a:t>
            </a:r>
            <a:endParaRPr lang="en-US" sz="2800" dirty="0"/>
          </a:p>
        </p:txBody>
      </p:sp>
      <p:sp>
        <p:nvSpPr>
          <p:cNvPr id="3" name="Solution card"/>
          <p:cNvSpPr/>
          <p:nvPr/>
        </p:nvSpPr>
        <p:spPr>
          <a:xfrm>
            <a:off x="548640" y="123444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Cluster patient records by health pattern with DBSCAN, and treat noise points as potential rare-disease cases for review.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HOW THE PROPOSED SYSTEM ADDRESSES IT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3200400" cy="530352"/>
          </a:xfrm>
          <a:prstGeom prst="roundRect">
            <a:avLst>
              <a:gd name="adj" fmla="val 17241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Labeled data is scarce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886200" y="2825496"/>
            <a:ext cx="4572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697480"/>
            <a:ext cx="41148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Unsupervised: no disease labels needed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3200400" cy="530352"/>
          </a:xfrm>
          <a:prstGeom prst="roundRect">
            <a:avLst>
              <a:gd name="adj" fmla="val 17241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Odd symptom mixes are missed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3886200" y="3465576"/>
            <a:ext cx="4572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3337560"/>
            <a:ext cx="41148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outside dense clusters are flagged as noise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3200400" cy="530352"/>
          </a:xfrm>
          <a:prstGeom prst="roundRect">
            <a:avLst>
              <a:gd name="adj" fmla="val 17241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review is slow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3886200" y="4105656"/>
            <a:ext cx="4572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3977640"/>
            <a:ext cx="41148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early alerts for clinicians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1737360" cy="283464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 CSV file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Age, gender, symptoms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BP, cholesterol</a:t>
            </a:r>
            <a:endParaRPr lang="en-US" sz="1400" dirty="0"/>
          </a:p>
        </p:txBody>
      </p:sp>
      <p:sp>
        <p:nvSpPr>
          <p:cNvPr id="7" name="Flow arrow"/>
          <p:cNvSpPr/>
          <p:nvPr/>
        </p:nvSpPr>
        <p:spPr>
          <a:xfrm>
            <a:off x="2331720" y="26060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2651760" y="1325880"/>
            <a:ext cx="1737360" cy="283464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9" name="Badge 2"/>
          <p:cNvSpPr txBox="1"/>
          <p:nvPr/>
        </p:nvSpPr>
        <p:spPr>
          <a:xfrm>
            <a:off x="283464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PROCESSING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231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duplicates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 missing values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Encode, standardize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4434840" y="26060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754880" y="1325880"/>
            <a:ext cx="1737360" cy="283464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4" name="Badge 3"/>
          <p:cNvSpPr txBox="1"/>
          <p:nvPr/>
        </p:nvSpPr>
        <p:spPr>
          <a:xfrm>
            <a:off x="493776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ALGORITHM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4231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DBSCAN clustering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eps + min_samples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Core, border, noise</a:t>
            </a:r>
            <a:endParaRPr lang="en-US" sz="1400" dirty="0"/>
          </a:p>
        </p:txBody>
      </p:sp>
      <p:sp>
        <p:nvSpPr>
          <p:cNvPr id="17" name="Flow arrow"/>
          <p:cNvSpPr/>
          <p:nvPr/>
        </p:nvSpPr>
        <p:spPr>
          <a:xfrm>
            <a:off x="6537960" y="2606040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6858000" y="1325880"/>
            <a:ext cx="1737360" cy="283464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9" name="Badge 4"/>
          <p:cNvSpPr txBox="1"/>
          <p:nvPr/>
        </p:nvSpPr>
        <p:spPr>
          <a:xfrm>
            <a:off x="704088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4231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Cluster labels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Noise = flagged cases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Scatter plots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decision-support tool for clinicians, not a diagnosis.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METHODOLOGY &amp; WORKFLOW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31520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patient dataset (CSV)</a:t>
            </a:r>
            <a:endParaRPr lang="en-US" sz="1400" dirty="0"/>
          </a:p>
        </p:txBody>
      </p:sp>
      <p:sp>
        <p:nvSpPr>
          <p:cNvPr id="6" name="Flow arrow"/>
          <p:cNvSpPr/>
          <p:nvPr/>
        </p:nvSpPr>
        <p:spPr>
          <a:xfrm>
            <a:off x="2368296" y="1874520"/>
            <a:ext cx="256032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2636490" y="128016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2819370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1937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Remove duplicates, fix data types</a:t>
            </a:r>
            <a:endParaRPr lang="en-US" sz="1400" dirty="0"/>
          </a:p>
        </p:txBody>
      </p:sp>
      <p:sp>
        <p:nvSpPr>
          <p:cNvPr id="10" name="Flow arrow"/>
          <p:cNvSpPr/>
          <p:nvPr/>
        </p:nvSpPr>
        <p:spPr>
          <a:xfrm>
            <a:off x="4456146" y="1874520"/>
            <a:ext cx="256032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4724339" y="128016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4907219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07219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Handle missing and invalid values</a:t>
            </a:r>
            <a:endParaRPr lang="en-US" sz="1400" dirty="0"/>
          </a:p>
        </p:txBody>
      </p:sp>
      <p:sp>
        <p:nvSpPr>
          <p:cNvPr id="14" name="Flow arrow"/>
          <p:cNvSpPr/>
          <p:nvPr/>
        </p:nvSpPr>
        <p:spPr>
          <a:xfrm>
            <a:off x="6543995" y="1874520"/>
            <a:ext cx="256032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6812189" y="128016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6" name="Badge 4"/>
          <p:cNvSpPr txBox="1"/>
          <p:nvPr/>
        </p:nvSpPr>
        <p:spPr>
          <a:xfrm>
            <a:off x="6995069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95069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Select and encode features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297180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9" name="Badge 5"/>
          <p:cNvSpPr txBox="1"/>
          <p:nvPr/>
        </p:nvSpPr>
        <p:spPr>
          <a:xfrm>
            <a:off x="731520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Standardize numeric features</a:t>
            </a:r>
            <a:endParaRPr lang="en-US" sz="1400" dirty="0"/>
          </a:p>
        </p:txBody>
      </p:sp>
      <p:sp>
        <p:nvSpPr>
          <p:cNvPr id="21" name="Flow arrow"/>
          <p:cNvSpPr/>
          <p:nvPr/>
        </p:nvSpPr>
        <p:spPr>
          <a:xfrm>
            <a:off x="2368296" y="3566160"/>
            <a:ext cx="256032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2636490" y="297180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23" name="Badge 6"/>
          <p:cNvSpPr txBox="1"/>
          <p:nvPr/>
        </p:nvSpPr>
        <p:spPr>
          <a:xfrm>
            <a:off x="2819370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81937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DBSCAN clustering</a:t>
            </a:r>
            <a:endParaRPr lang="en-US" sz="1400" dirty="0"/>
          </a:p>
        </p:txBody>
      </p:sp>
      <p:sp>
        <p:nvSpPr>
          <p:cNvPr id="25" name="Flow arrow"/>
          <p:cNvSpPr/>
          <p:nvPr/>
        </p:nvSpPr>
        <p:spPr>
          <a:xfrm>
            <a:off x="4456146" y="3566160"/>
            <a:ext cx="256032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Card"/>
          <p:cNvSpPr/>
          <p:nvPr/>
        </p:nvSpPr>
        <p:spPr>
          <a:xfrm>
            <a:off x="4724339" y="297180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27" name="Badge 7"/>
          <p:cNvSpPr txBox="1"/>
          <p:nvPr/>
        </p:nvSpPr>
        <p:spPr>
          <a:xfrm>
            <a:off x="4907219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07219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 noise points (label -1)</a:t>
            </a:r>
            <a:endParaRPr lang="en-US" sz="1400" dirty="0"/>
          </a:p>
        </p:txBody>
      </p:sp>
      <p:sp>
        <p:nvSpPr>
          <p:cNvPr id="29" name="Flow arrow"/>
          <p:cNvSpPr/>
          <p:nvPr/>
        </p:nvSpPr>
        <p:spPr>
          <a:xfrm>
            <a:off x="6543995" y="3566160"/>
            <a:ext cx="256032" cy="256032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Card"/>
          <p:cNvSpPr/>
          <p:nvPr/>
        </p:nvSpPr>
        <p:spPr>
          <a:xfrm>
            <a:off x="6812189" y="2971800"/>
            <a:ext cx="17830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31" name="Badge 8"/>
          <p:cNvSpPr txBox="1"/>
          <p:nvPr/>
        </p:nvSpPr>
        <p:spPr>
          <a:xfrm>
            <a:off x="6995069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95069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Visualize and review cases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3317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OPERATING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Windows 10/11 or Ubuntu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063240" y="1280160"/>
            <a:ext cx="23317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4612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3.10 or above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377440"/>
            <a:ext cx="23317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ML FRAMEWORK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3063240" y="2377440"/>
            <a:ext cx="23317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4612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LIBRARIES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Pandas, NumPy, Matplotlib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474720"/>
            <a:ext cx="23317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None (CSV dataset)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063240" y="3474720"/>
            <a:ext cx="23317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24612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TOOLS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Jupyter / VS Code, Git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5669280" y="1280160"/>
            <a:ext cx="2926080" cy="3246120"/>
          </a:xfrm>
          <a:prstGeom prst="roundRect">
            <a:avLst>
              <a:gd name="adj" fmla="val 37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89788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Hardware requirements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18288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Intel Core i3 or above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RAM: 4 GB min, 8 GB advised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 GB free storage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1366 x 768 display or higher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64-bit processor and OS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Internet to install libraries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MODULES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31520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996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Collection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the Kaggle patient CSV with Pandas.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3474720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4996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Preprocessing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Clean, encode and standardize features.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6217920" y="1444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4996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DBSCAN Module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 patients by density with Scikit-learn.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6" name="Badge 4"/>
          <p:cNvSpPr txBox="1"/>
          <p:nvPr/>
        </p:nvSpPr>
        <p:spPr>
          <a:xfrm>
            <a:off x="731520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191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Anomaly Flagging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 noise points as potential rare cases.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20" name="Badge 5"/>
          <p:cNvSpPr txBox="1"/>
          <p:nvPr/>
        </p:nvSpPr>
        <p:spPr>
          <a:xfrm>
            <a:off x="3474720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3191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Visualization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Matplotlib plots of clusters and outliers.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24" name="Badge 6"/>
          <p:cNvSpPr txBox="1"/>
          <p:nvPr/>
        </p:nvSpPr>
        <p:spPr>
          <a:xfrm>
            <a:off x="6217920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191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Interface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Notebook output for clinicians to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IMPLEMENTATION</a:t>
            </a:r>
            <a:endParaRPr lang="en-US" sz="2800" dirty="0"/>
          </a:p>
        </p:txBody>
      </p:sp>
      <p:sp>
        <p:nvSpPr>
          <p:cNvPr id="3" name="Badge 1"/>
          <p:cNvSpPr txBox="1"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and clean data with Pandas</a:t>
            </a:r>
            <a:endParaRPr lang="en-US" sz="1400" dirty="0"/>
          </a:p>
        </p:txBody>
      </p:sp>
      <p:sp>
        <p:nvSpPr>
          <p:cNvPr id="5" name="Badge 2"/>
          <p:cNvSpPr txBox="1"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Encode categories, standardize numbers</a:t>
            </a:r>
            <a:endParaRPr lang="en-US" sz="1400" dirty="0"/>
          </a:p>
        </p:txBody>
      </p:sp>
      <p:sp>
        <p:nvSpPr>
          <p:cNvPr id="7" name="Badge 3"/>
          <p:cNvSpPr txBox="1"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DBSCAN from Scikit-learn</a:t>
            </a:r>
            <a:endParaRPr lang="en-US" sz="1400" dirty="0"/>
          </a:p>
        </p:txBody>
      </p:sp>
      <p:sp>
        <p:nvSpPr>
          <p:cNvPr id="9" name="Badge 4"/>
          <p:cNvSpPr txBox="1"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Extract noise points (label -1) and plot</a:t>
            </a:r>
            <a:endParaRPr lang="en-US" sz="1400" dirty="0"/>
          </a:p>
        </p:txBody>
      </p:sp>
      <p:sp>
        <p:nvSpPr>
          <p:cNvPr id="11" name="Code card"/>
          <p:cNvSpPr/>
          <p:nvPr/>
        </p:nvSpPr>
        <p:spPr>
          <a:xfrm>
            <a:off x="4572000" y="1280160"/>
            <a:ext cx="4023360" cy="2423160"/>
          </a:xfrm>
          <a:prstGeom prst="roundRect">
            <a:avLst>
              <a:gd name="adj" fmla="val 45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PYTHON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373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pd.read_csv("data.csv")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StandardScaler().fit_transform(X)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DBSCAN(eps=1.5, min_samples=5)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db.fit_predict(X)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= df[labels == -1]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Example parameters; eps and min_samples are tuned on the dataset. Screenshots follow in the demo section.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DATASET</a:t>
            </a:r>
            <a:endParaRPr lang="en-US" sz="2800" dirty="0"/>
          </a:p>
        </p:txBody>
      </p:sp>
      <p:sp>
        <p:nvSpPr>
          <p:cNvPr id="3" name="Stat card"/>
          <p:cNvSpPr/>
          <p:nvPr/>
        </p:nvSpPr>
        <p:spPr>
          <a:xfrm>
            <a:off x="548640" y="1280160"/>
            <a:ext cx="228600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349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patient records</a:t>
            </a:r>
            <a:endParaRPr lang="en-US" sz="1400" dirty="0"/>
          </a:p>
        </p:txBody>
      </p:sp>
      <p:sp>
        <p:nvSpPr>
          <p:cNvPr id="6" name="Stat card"/>
          <p:cNvSpPr/>
          <p:nvPr/>
        </p:nvSpPr>
        <p:spPr>
          <a:xfrm>
            <a:off x="548640" y="3017520"/>
            <a:ext cx="228600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columns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063240" y="1280160"/>
            <a:ext cx="55321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9184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Features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828800"/>
            <a:ext cx="52578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09060" y="1828800"/>
            <a:ext cx="73152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Gender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32020" y="1828800"/>
            <a:ext cx="66294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Fever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28800"/>
            <a:ext cx="66294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Cough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40780" y="1828800"/>
            <a:ext cx="80010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Fatigue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212848"/>
            <a:ext cx="169164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Difficulty Breathing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212848"/>
            <a:ext cx="128016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Blood Pressure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212848"/>
            <a:ext cx="148590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Cholesterol Level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Disease and Outcome columns are kept aside, not used for clustering.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3063240" y="3154680"/>
            <a:ext cx="55321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291840" y="3264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duplicates, fix types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 missing, invalid values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3611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Encode Yes/No, Normal/High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Standardize Age, select features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ALGORITHM: DBSCAN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429768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DBSCAN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disease labels needed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Finds clusters of any shape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need to set the cluster count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Marks outliers as noise automatically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parameters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eps: neighborhood radius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min_samples: points for a dense region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029200" y="128016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9" name="Point core"/>
          <p:cNvSpPr/>
          <p:nvPr/>
        </p:nvSpPr>
        <p:spPr>
          <a:xfrm>
            <a:off x="6233410" y="2267174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Point core"/>
          <p:cNvSpPr/>
          <p:nvPr/>
        </p:nvSpPr>
        <p:spPr>
          <a:xfrm>
            <a:off x="6038030" y="2248487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Point core"/>
          <p:cNvSpPr/>
          <p:nvPr/>
        </p:nvSpPr>
        <p:spPr>
          <a:xfrm>
            <a:off x="6237055" y="2101609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Point core"/>
          <p:cNvSpPr/>
          <p:nvPr/>
        </p:nvSpPr>
        <p:spPr>
          <a:xfrm>
            <a:off x="6177668" y="2394096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Point core"/>
          <p:cNvSpPr/>
          <p:nvPr/>
        </p:nvSpPr>
        <p:spPr>
          <a:xfrm>
            <a:off x="5999023" y="2093625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Point core"/>
          <p:cNvSpPr/>
          <p:nvPr/>
        </p:nvSpPr>
        <p:spPr>
          <a:xfrm>
            <a:off x="6382231" y="2210668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Point core"/>
          <p:cNvSpPr/>
          <p:nvPr/>
        </p:nvSpPr>
        <p:spPr>
          <a:xfrm>
            <a:off x="5973914" y="2404072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Point core"/>
          <p:cNvSpPr/>
          <p:nvPr/>
        </p:nvSpPr>
        <p:spPr>
          <a:xfrm>
            <a:off x="6164697" y="1938733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Point core"/>
          <p:cNvSpPr/>
          <p:nvPr/>
        </p:nvSpPr>
        <p:spPr>
          <a:xfrm>
            <a:off x="6355037" y="2459068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Point border"/>
          <p:cNvSpPr/>
          <p:nvPr/>
        </p:nvSpPr>
        <p:spPr>
          <a:xfrm>
            <a:off x="5809180" y="2178441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Point border"/>
          <p:cNvSpPr/>
          <p:nvPr/>
        </p:nvSpPr>
        <p:spPr>
          <a:xfrm>
            <a:off x="6448728" y="2013328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Point border"/>
          <p:cNvSpPr/>
          <p:nvPr/>
        </p:nvSpPr>
        <p:spPr>
          <a:xfrm>
            <a:off x="6074558" y="2588402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Point border"/>
          <p:cNvSpPr/>
          <p:nvPr/>
        </p:nvSpPr>
        <p:spPr>
          <a:xfrm>
            <a:off x="5958017" y="1886357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Point border"/>
          <p:cNvSpPr/>
          <p:nvPr/>
        </p:nvSpPr>
        <p:spPr>
          <a:xfrm>
            <a:off x="6538173" y="2341232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Point core"/>
          <p:cNvSpPr/>
          <p:nvPr/>
        </p:nvSpPr>
        <p:spPr>
          <a:xfrm>
            <a:off x="7569468" y="3260257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Point core"/>
          <p:cNvSpPr/>
          <p:nvPr/>
        </p:nvSpPr>
        <p:spPr>
          <a:xfrm>
            <a:off x="7593852" y="3065506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Point core"/>
          <p:cNvSpPr/>
          <p:nvPr/>
        </p:nvSpPr>
        <p:spPr>
          <a:xfrm>
            <a:off x="7734856" y="3268735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Point core"/>
          <p:cNvSpPr/>
          <p:nvPr/>
        </p:nvSpPr>
        <p:spPr>
          <a:xfrm>
            <a:off x="7444228" y="3200833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Point core"/>
          <p:cNvSpPr/>
          <p:nvPr/>
        </p:nvSpPr>
        <p:spPr>
          <a:xfrm>
            <a:off x="7749787" y="3031037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Point core"/>
          <p:cNvSpPr/>
          <p:nvPr/>
        </p:nvSpPr>
        <p:spPr>
          <a:xfrm>
            <a:off x="7621604" y="3410665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Point core"/>
          <p:cNvSpPr/>
          <p:nvPr/>
        </p:nvSpPr>
        <p:spPr>
          <a:xfrm>
            <a:off x="7440205" y="2996874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Point core"/>
          <p:cNvSpPr/>
          <p:nvPr/>
        </p:nvSpPr>
        <p:spPr>
          <a:xfrm>
            <a:off x="7899775" y="3201163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Point core"/>
          <p:cNvSpPr/>
          <p:nvPr/>
        </p:nvSpPr>
        <p:spPr>
          <a:xfrm>
            <a:off x="7374104" y="3376228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Point border"/>
          <p:cNvSpPr/>
          <p:nvPr/>
        </p:nvSpPr>
        <p:spPr>
          <a:xfrm>
            <a:off x="7670550" y="2838799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Point border"/>
          <p:cNvSpPr/>
          <p:nvPr/>
        </p:nvSpPr>
        <p:spPr>
          <a:xfrm>
            <a:off x="7816918" y="3482895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Point border"/>
          <p:cNvSpPr/>
          <p:nvPr/>
        </p:nvSpPr>
        <p:spPr>
          <a:xfrm>
            <a:off x="7253016" y="3092093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Point border"/>
          <p:cNvSpPr/>
          <p:nvPr/>
        </p:nvSpPr>
        <p:spPr>
          <a:xfrm>
            <a:off x="7958163" y="2996101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6" name="Point border"/>
          <p:cNvSpPr/>
          <p:nvPr/>
        </p:nvSpPr>
        <p:spPr>
          <a:xfrm>
            <a:off x="7486543" y="3562727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oint noise"/>
          <p:cNvSpPr/>
          <p:nvPr/>
        </p:nvSpPr>
        <p:spPr>
          <a:xfrm>
            <a:off x="5376672" y="3456432"/>
            <a:ext cx="128016" cy="12801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Point noise"/>
          <p:cNvSpPr/>
          <p:nvPr/>
        </p:nvSpPr>
        <p:spPr>
          <a:xfrm>
            <a:off x="8119872" y="1627632"/>
            <a:ext cx="128016" cy="12801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Point noise"/>
          <p:cNvSpPr/>
          <p:nvPr/>
        </p:nvSpPr>
        <p:spPr>
          <a:xfrm>
            <a:off x="6611112" y="3685032"/>
            <a:ext cx="128016" cy="12801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Point noise"/>
          <p:cNvSpPr/>
          <p:nvPr/>
        </p:nvSpPr>
        <p:spPr>
          <a:xfrm>
            <a:off x="5468112" y="1627632"/>
            <a:ext cx="128016" cy="12801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Eps ring"/>
          <p:cNvSpPr/>
          <p:nvPr/>
        </p:nvSpPr>
        <p:spPr>
          <a:xfrm>
            <a:off x="5806440" y="1874520"/>
            <a:ext cx="822960" cy="822960"/>
          </a:xfrm>
          <a:prstGeom prst="ellipse">
            <a:avLst/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675120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eps</a:t>
            </a:r>
            <a:endParaRPr lang="en-US" sz="1200" dirty="0"/>
          </a:p>
        </p:txBody>
      </p:sp>
      <p:sp>
        <p:nvSpPr>
          <p:cNvPr id="43" name="Point core"/>
          <p:cNvSpPr/>
          <p:nvPr/>
        </p:nvSpPr>
        <p:spPr>
          <a:xfrm>
            <a:off x="5193792" y="4233672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9496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Core</a:t>
            </a:r>
            <a:endParaRPr lang="en-US" sz="1200" dirty="0"/>
          </a:p>
        </p:txBody>
      </p:sp>
      <p:sp>
        <p:nvSpPr>
          <p:cNvPr id="45" name="Point border"/>
          <p:cNvSpPr/>
          <p:nvPr/>
        </p:nvSpPr>
        <p:spPr>
          <a:xfrm>
            <a:off x="6153912" y="4233672"/>
            <a:ext cx="128016" cy="12801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5508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Border</a:t>
            </a:r>
            <a:endParaRPr lang="en-US" sz="1200" dirty="0"/>
          </a:p>
        </p:txBody>
      </p:sp>
      <p:sp>
        <p:nvSpPr>
          <p:cNvPr id="47" name="Point noise"/>
          <p:cNvSpPr/>
          <p:nvPr/>
        </p:nvSpPr>
        <p:spPr>
          <a:xfrm>
            <a:off x="7251192" y="4233672"/>
            <a:ext cx="128016" cy="12801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5236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18745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—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Accuracy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606040" y="1234440"/>
            <a:ext cx="18745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0604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Precision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234440"/>
            <a:ext cx="18745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—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Recall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20840" y="1234440"/>
            <a:ext cx="18745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—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F1-score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Comparison with existing methods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F1-score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DBSCAN (proposed)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Isolation Forest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Local Outlier Factor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577840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Graphs / charts</a:t>
            </a:r>
            <a:endParaRPr lang="en-US" sz="1400" dirty="0"/>
          </a:p>
        </p:txBody>
      </p:sp>
      <p:sp>
        <p:nvSpPr>
          <p:cNvPr id="18" name="Chart placeholder"/>
          <p:cNvSpPr/>
          <p:nvPr/>
        </p:nvSpPr>
        <p:spPr>
          <a:xfrm>
            <a:off x="5577840" y="2926080"/>
            <a:ext cx="301752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760720" y="2926080"/>
            <a:ext cx="2651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Insert cluster plot with noise points highlighted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SCREENSHOTS / DEMO</a:t>
            </a:r>
            <a:endParaRPr lang="en-US" sz="2800" dirty="0"/>
          </a:p>
        </p:txBody>
      </p:sp>
      <p:sp>
        <p:nvSpPr>
          <p:cNvPr id="3" name="Screenshot slot 1"/>
          <p:cNvSpPr/>
          <p:nvPr/>
        </p:nvSpPr>
        <p:spPr>
          <a:xfrm>
            <a:off x="548640" y="1280160"/>
            <a:ext cx="1874520" cy="246888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Insert screenshot</a:t>
            </a:r>
            <a:endParaRPr lang="en-US" sz="1200" dirty="0"/>
          </a:p>
        </p:txBody>
      </p:sp>
      <p:sp>
        <p:nvSpPr>
          <p:cNvPr id="5" name="Badge 1"/>
          <p:cNvSpPr txBox="1"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Home page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Notebook start</a:t>
            </a:r>
            <a:endParaRPr lang="en-US" sz="1200" dirty="0"/>
          </a:p>
        </p:txBody>
      </p:sp>
      <p:sp>
        <p:nvSpPr>
          <p:cNvPr id="8" name="Screenshot slot 2"/>
          <p:cNvSpPr/>
          <p:nvPr/>
        </p:nvSpPr>
        <p:spPr>
          <a:xfrm>
            <a:off x="2606040" y="1280160"/>
            <a:ext cx="1874520" cy="246888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606040" y="128016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Insert screenshot</a:t>
            </a:r>
            <a:endParaRPr lang="en-US" sz="1200" dirty="0"/>
          </a:p>
        </p:txBody>
      </p:sp>
      <p:sp>
        <p:nvSpPr>
          <p:cNvPr id="10" name="Badge 2"/>
          <p:cNvSpPr txBox="1"/>
          <p:nvPr/>
        </p:nvSpPr>
        <p:spPr>
          <a:xfrm>
            <a:off x="260604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screen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Dataset loaded</a:t>
            </a:r>
            <a:endParaRPr lang="en-US" sz="1200" dirty="0"/>
          </a:p>
        </p:txBody>
      </p:sp>
      <p:sp>
        <p:nvSpPr>
          <p:cNvPr id="13" name="Screenshot slot 3"/>
          <p:cNvSpPr/>
          <p:nvPr/>
        </p:nvSpPr>
        <p:spPr>
          <a:xfrm>
            <a:off x="4663440" y="1280160"/>
            <a:ext cx="1874520" cy="246888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663440" y="128016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Insert screenshot</a:t>
            </a:r>
            <a:endParaRPr lang="en-US" sz="1200" dirty="0"/>
          </a:p>
        </p:txBody>
      </p:sp>
      <p:sp>
        <p:nvSpPr>
          <p:cNvPr id="15" name="Badge 3"/>
          <p:cNvSpPr txBox="1"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Processing screen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DBSCAN running</a:t>
            </a:r>
            <a:endParaRPr lang="en-US" sz="1200" dirty="0"/>
          </a:p>
        </p:txBody>
      </p:sp>
      <p:sp>
        <p:nvSpPr>
          <p:cNvPr id="18" name="Screenshot slot 4"/>
          <p:cNvSpPr/>
          <p:nvPr/>
        </p:nvSpPr>
        <p:spPr>
          <a:xfrm>
            <a:off x="6720840" y="1280160"/>
            <a:ext cx="1874520" cy="246888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720840" y="128016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Insert screenshot</a:t>
            </a:r>
            <a:endParaRPr lang="en-US" sz="1200" dirty="0"/>
          </a:p>
        </p:txBody>
      </p:sp>
      <p:sp>
        <p:nvSpPr>
          <p:cNvPr id="20" name="Badge 4"/>
          <p:cNvSpPr txBox="1"/>
          <p:nvPr/>
        </p:nvSpPr>
        <p:spPr>
          <a:xfrm>
            <a:off x="672084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screen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Noise points flagged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ADVANTAGES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0292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+"/>
          <p:cNvSpPr txBox="1"/>
          <p:nvPr/>
        </p:nvSpPr>
        <p:spPr>
          <a:xfrm>
            <a:off x="731520" y="14356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167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Needs no disease labels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103120"/>
            <a:ext cx="50292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7" name="Badge +"/>
          <p:cNvSpPr txBox="1"/>
          <p:nvPr/>
        </p:nvSpPr>
        <p:spPr>
          <a:xfrm>
            <a:off x="731520" y="225856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969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Flags unusual cases automatically for early review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926080"/>
            <a:ext cx="50292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Badge +"/>
          <p:cNvSpPr txBox="1"/>
          <p:nvPr/>
        </p:nvSpPr>
        <p:spPr>
          <a:xfrm>
            <a:off x="731520" y="30815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6265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clusters of any shape without a preset count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749040"/>
            <a:ext cx="50292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3" name="Badge +"/>
          <p:cNvSpPr txBox="1"/>
          <p:nvPr/>
        </p:nvSpPr>
        <p:spPr>
          <a:xfrm>
            <a:off x="731520" y="390448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856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on a standard laptop (Core i3, 4 GB RAM)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806440" y="1280160"/>
            <a:ext cx="2788920" cy="3182112"/>
          </a:xfrm>
          <a:prstGeom prst="roundRect">
            <a:avLst>
              <a:gd name="adj" fmla="val 393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3504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Improvement over the existing approach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BEFORE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Manual, slow review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NOW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Automated early alerts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4472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BEFORE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Needs labeled data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NOW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Works unsupervised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0292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62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Early screening alerts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73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 records that match no common disease pattern.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377440"/>
            <a:ext cx="50292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05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Specialist referral support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 a second look at unusual patients.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520440"/>
            <a:ext cx="50292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48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Rare-disease research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59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Surface candidate cases for further study.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 users and industries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69164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Doctors and specialists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37744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Hospitals and clinics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06324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Medical researchers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74904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Health-tech companies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support only, not a diagnosis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Noise points are unusual, not always a rare disease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Flagged cases need clinical verification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28016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103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Dataset and technical constraints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5603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public dataset (349 records)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Results depend on eps and min_samples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Mixed encoded features can distort distances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3" name="Roadmap line"/>
          <p:cNvSpPr/>
          <p:nvPr/>
        </p:nvSpPr>
        <p:spPr>
          <a:xfrm>
            <a:off x="777240" y="1508760"/>
            <a:ext cx="548640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Badge 1"/>
          <p:cNvSpPr txBox="1"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96596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Improvements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Auto-tune eps with a k-distance plot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with Isolation Forest, LOF and HDBSCAN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 on larger real-world data</a:t>
            </a:r>
            <a:endParaRPr lang="en-US" sz="1400" dirty="0"/>
          </a:p>
        </p:txBody>
      </p:sp>
      <p:sp>
        <p:nvSpPr>
          <p:cNvPr id="8" name="Badge 2"/>
          <p:cNvSpPr txBox="1"/>
          <p:nvPr/>
        </p:nvSpPr>
        <p:spPr>
          <a:xfrm>
            <a:off x="338328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96596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7472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Additional features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14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Interactive dashboard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Anomaly score ranking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Explain why a case was flagged</a:t>
            </a:r>
            <a:endParaRPr lang="en-US" sz="1400" dirty="0"/>
          </a:p>
        </p:txBody>
      </p:sp>
      <p:sp>
        <p:nvSpPr>
          <p:cNvPr id="12" name="Badge 3"/>
          <p:cNvSpPr txBox="1"/>
          <p:nvPr/>
        </p:nvSpPr>
        <p:spPr>
          <a:xfrm>
            <a:off x="612648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96596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C8F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Deployment and scaling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514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 app or hospital system integration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 scaling for large datasets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Secure handling of patient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B2470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Badge 1"/>
          <p:cNvSpPr txBox="1"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2801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WHAT WAS ACHIEVED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361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Built a DBSCAN pipeline that clusters patient records and flags noise points as potential rare cases.</a:t>
            </a:r>
            <a:endParaRPr lang="en-US" sz="1500" dirty="0"/>
          </a:p>
        </p:txBody>
      </p:sp>
      <p:sp>
        <p:nvSpPr>
          <p:cNvPr id="6" name="Badge 2"/>
          <p:cNvSpPr txBox="1"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KEY OUTCOME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334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Unusual patient profiles are surfaced automatically, without labeled disease data.</a:t>
            </a:r>
            <a:endParaRPr lang="en-US" sz="1500" dirty="0"/>
          </a:p>
        </p:txBody>
      </p:sp>
      <p:sp>
        <p:nvSpPr>
          <p:cNvPr id="9" name="Badge 3"/>
          <p:cNvSpPr txBox="1"/>
          <p:nvPr/>
        </p:nvSpPr>
        <p:spPr>
          <a:xfrm>
            <a:off x="548640" y="3520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4747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OVERALL CONTRIBUTION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7307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low-cost decision-support tool that helps clinicians spot rare-disease candidates earlier.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6459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re Disease DBSCAN">
  <a:themeElements>
    <a:clrScheme name="Rare Disease DBSCAN">
      <a:dk1>
        <a:srgbClr val="1B2470"/>
      </a:dk1>
      <a:lt1>
        <a:srgbClr val="FFFFFF"/>
      </a:lt1>
      <a:dk2>
        <a:srgbClr val="1F2C8F"/>
      </a:dk2>
      <a:lt2>
        <a:srgbClr val="FDF9F3"/>
      </a:lt2>
      <a:accent1>
        <a:srgbClr val="1F2C8F"/>
      </a:accent1>
      <a:accent2>
        <a:srgbClr val="F5CDCD"/>
      </a:accent2>
      <a:accent3>
        <a:srgbClr val="AAC4E8"/>
      </a:accent3>
      <a:accent4>
        <a:srgbClr val="D4D796"/>
      </a:accent4>
      <a:accent5>
        <a:srgbClr val="E8909C"/>
      </a:accent5>
      <a:accent6>
        <a:srgbClr val="5C6BB5"/>
      </a:accent6>
      <a:hlink>
        <a:srgbClr val="1F2C8F"/>
      </a:hlink>
      <a:folHlink>
        <a:srgbClr val="5C6BB5"/>
      </a:folHlink>
    </a:clrScheme>
    <a:fontScheme name="Rare Disease DBSC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Rare-Disease Case Identification using DBSCAN-Based Anomaly Detection</dc:title>
  <dc:subject>Project presentation</dc:subject>
  <dc:creator>PptxGenJS</dc:creator>
  <cp:lastModifiedBy>PptxGenJS</cp:lastModifiedBy>
  <cp:revision>1</cp:revision>
  <dcterms:created xsi:type="dcterms:W3CDTF">2026-10-14T05:57:42Z</dcterms:created>
  <dcterms:modified xsi:type="dcterms:W3CDTF">2026-10-14T05:57:42Z</dcterms:modified>
</cp:coreProperties>
</file>